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8" r:id="rId3"/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8-29T01:11: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  <inkml:brushProperty name="ignorePressure" value="0"/>
    </inkml:brush>
  </inkml:definitions>
  <inkml:trace contextRef="#ctx0" brushRef="#br0">1104.000 328.000,'0.000'0.000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8-29T01:11: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  <inkml:brushProperty name="ignorePressure" value="0"/>
    </inkml:brush>
  </inkml:definitions>
  <inkml:trace contextRef="#ctx0" brushRef="#br0">1700.000 282.000,'0.000'0.000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8-29T01:11: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  <inkml:brushProperty name="ignorePressure" value="0"/>
    </inkml:brush>
  </inkml:definitions>
  <inkml:trace contextRef="#ctx0" brushRef="#br0">1620.000 1079.000,'-0.019'0.000,"-0.030"0.000,-0.033 0.000,-0.033 0.000,-0.028 0.000,-0.025 0.000,-0.020 0.000,-0.014 0.000,-0.012 0.000,-0.193 0.000,-0.369 0.000,0.021 0.000,-0.310 0.000,-2.237-0.134,-1.144-0.202,-1.818-0.522,-8.054-2.009,-4.352-1.699,5.297 1.158,-1.733-0.507,-13.251-3.936,-3.025-1.441,-97.217-32.481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8-29T01:11: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  <inkml:brushProperty name="ignorePressure" value="0"/>
    </inkml:brush>
  </inkml:definitions>
  <inkml:trace contextRef="#ctx0" brushRef="#br0">1192.000 953.000,'-0.018'-0.009,"-0.030"-0.015,-0.032-0.016,-0.035-0.017,-0.031-0.016,-0.028-0.014,-0.023-0.012,-0.020-0.009,-0.153 0.012,-0.276 0.007,-0.298-0.043,-0.353-0.080,-0.356-0.098,0.587 0.039,-5.436-1.828,-3.608-1.286,-3.273-1.121,-3.291-1.624,-3.165-1.592,-1.771-1.098,-88.301-39.911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8-29T01:11: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  <inkml:brushProperty name="ignorePressure" value="0"/>
    </inkml:brush>
  </inkml:definitions>
  <inkml:trace contextRef="#ctx0" brushRef="#br0">469.000 616.000,'1.316'3.010,"2.062"4.714,2.387 5.459,2.420 5.533,2.261 5.172,1.995 4.561,1.677 3.834,1.350 3.087,22.532-5.615,20.862-1.329,22.749-1.366,11.434-5.117,6.387-5.784,-25.768-9.164,30.258-4.720,1.616-6.007,-1.374-4.981,-0.750-7.142,28.557-18.469,-17.935-8.825,-58.079 17.752,-6.381-2.204,116.115-234.864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8-29T01:11: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  <inkml:brushProperty name="ignorePressure" value="0"/>
    </inkml:brush>
  </inkml:definitions>
  <inkml:trace contextRef="#ctx0" brushRef="#br0">788.000 119.000,'-6.692'5.043,"-9.733"8.526,-8.301 8.183,-7.401 7.886,-6.354 7.217,-9.443 13.934,-2.479 9.086,-0.574 7.934,0.229 7.830,6.264-1.088,7.362-3.704,12.690-8.212,7.501-0.193,7.466-2.245,7.001-3.497,11.450 2.428,11.637-9.926,10.495-10.236,-2.461-13.993,2.564-5.546,1.529-4.882,0.727-4.163,3.167-3.786,4.690-3.326,5.499-2.827,5.767-2.331,2.590-2.506,12.792-3.841,-0.348-2.392,-2.947-1.762,-23.796 2.865,31.010-13.961,-5.853-4.309,-21.581 4.404,128.891-144.157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8-29T01:11: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  <inkml:brushProperty name="ignorePressure" value="0"/>
    </inkml:brush>
  </inkml:definitions>
  <inkml:trace contextRef="#ctx0" brushRef="#br0">998.000 738.000,'0.000'2.178,"0.000"3.338,0.000 3.773,0.660 2.033,0.862 3.497,0.968 2.716,0.994 2.035,-2.455-14.494,7.813 22.798,3.036 1.806,2.173 0.108,3.056-4.005,4.543-0.707,4.241-1.684,3.825-2.303,8.521-0.725,4.100-3.518,-7.420-5.988,2.069-2.269,7.988-2.313,2.234-3.737,7.781-4.661,0.675-4.701,-12.964-1.296,-0.851-2.948,20.710-13.811,-5.415-5.335,-28.013 12.488,-1.918-1.593,9.464-14.269,-4.125-4.065,64.991-175.303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8-29T01:11: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  <inkml:brushProperty name="ignorePressure" value="0"/>
    </inkml:brush>
  </inkml:definitions>
  <inkml:trace contextRef="#ctx0" brushRef="#br0">1415.000 658.000,'-4.786'3.829,"-0.795"0.816,-2.369 2.204,-3.499 3.453,-1.569 1.921,-0.926 1.435,3.379-2.923,0.089 0.378,-7.560 9.938,2.313-0.798,5.769-6.404,0.772 0.232,2.001-1.735,2.298-2.809,1.395-1.402,1.191 0.133,1.749-1.569,3.147-1.496,2.499-1.756,2.843-1.189,-0.329-1.251,1.359-0.777,5.883-1.507,0.837-1.341,-6.420 0.676,-0.279-0.373,2.256-1.465,-0.988-0.597,-1.186-0.715,-1.273-0.763,0.429-3.683,-2.331-1.027,-1.379-32.794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customXml" Target="../ink/ink4.xml"/><Relationship Id="rId8" Type="http://schemas.openxmlformats.org/officeDocument/2006/relationships/image" Target="../media/image5.png"/><Relationship Id="rId7" Type="http://schemas.openxmlformats.org/officeDocument/2006/relationships/customXml" Target="../ink/ink3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0.png"/><Relationship Id="rId17" Type="http://schemas.openxmlformats.org/officeDocument/2006/relationships/customXml" Target="../ink/ink8.xml"/><Relationship Id="rId16" Type="http://schemas.openxmlformats.org/officeDocument/2006/relationships/image" Target="../media/image9.png"/><Relationship Id="rId15" Type="http://schemas.openxmlformats.org/officeDocument/2006/relationships/customXml" Target="../ink/ink7.xml"/><Relationship Id="rId14" Type="http://schemas.openxmlformats.org/officeDocument/2006/relationships/image" Target="../media/image8.png"/><Relationship Id="rId13" Type="http://schemas.openxmlformats.org/officeDocument/2006/relationships/customXml" Target="../ink/ink6.xml"/><Relationship Id="rId12" Type="http://schemas.openxmlformats.org/officeDocument/2006/relationships/image" Target="../media/image7.png"/><Relationship Id="rId11" Type="http://schemas.openxmlformats.org/officeDocument/2006/relationships/customXml" Target="../ink/ink5.xml"/><Relationship Id="rId10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jpe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0" y="3148330"/>
            <a:ext cx="381000" cy="381000"/>
          </a:xfrm>
          <a:prstGeom prst="rect">
            <a:avLst/>
          </a:prstGeom>
        </p:spPr>
      </p:pic>
      <p:pic>
        <p:nvPicPr>
          <p:cNvPr id="3" name="Изображение 2"/>
          <p:cNvPicPr/>
          <p:nvPr/>
        </p:nvPicPr>
        <p:blipFill>
          <a:blip r:embed="rId3"/>
          <a:stretch>
            <a:fillRect/>
          </a:stretch>
        </p:blipFill>
        <p:spPr>
          <a:xfrm>
            <a:off x="-635" y="-635"/>
            <a:ext cx="12193270" cy="68586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4" name="Рукописный ввод 3"/>
              <p14:cNvContentPartPr/>
              <p14:nvPr/>
            </p14:nvContentPartPr>
            <p14:xfrm>
              <a:off x="7010400" y="2082800"/>
              <a:ext cx="360" cy="360"/>
            </p14:xfrm>
          </p:contentPart>
        </mc:Choice>
        <mc:Fallback xmlns="">
          <p:pic>
            <p:nvPicPr>
              <p:cNvPr id="4" name="Рукописный ввод 3"/>
            </p:nvPicPr>
            <p:blipFill>
              <a:blip r:embed="rId5"/>
            </p:blipFill>
            <p:spPr>
              <a:xfrm>
                <a:off x="7010400" y="208280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5" name="Рукописный ввод 4"/>
              <p14:cNvContentPartPr/>
              <p14:nvPr/>
            </p14:nvContentPartPr>
            <p14:xfrm>
              <a:off x="10795000" y="1790700"/>
              <a:ext cx="360" cy="360"/>
            </p14:xfrm>
          </p:contentPart>
        </mc:Choice>
        <mc:Fallback xmlns="">
          <p:pic>
            <p:nvPicPr>
              <p:cNvPr id="5" name="Рукописный ввод 4"/>
            </p:nvPicPr>
            <p:blipFill>
              <a:blip r:embed="rId5"/>
            </p:blipFill>
            <p:spPr>
              <a:xfrm>
                <a:off x="10795000" y="179070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6" name="Рукописный ввод 5"/>
              <p14:cNvContentPartPr/>
              <p14:nvPr/>
            </p14:nvContentPartPr>
            <p14:xfrm>
              <a:off x="8585200" y="6375400"/>
              <a:ext cx="1701800" cy="476250"/>
            </p14:xfrm>
          </p:contentPart>
        </mc:Choice>
        <mc:Fallback xmlns="">
          <p:pic>
            <p:nvPicPr>
              <p:cNvPr id="6" name="Рукописный ввод 5"/>
            </p:nvPicPr>
            <p:blipFill>
              <a:blip r:embed="rId8"/>
            </p:blipFill>
            <p:spPr>
              <a:xfrm>
                <a:off x="8585200" y="6375400"/>
                <a:ext cx="1701800" cy="476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7" name="Рукописный ввод 6"/>
              <p14:cNvContentPartPr/>
              <p14:nvPr/>
            </p14:nvContentPartPr>
            <p14:xfrm>
              <a:off x="6267450" y="5524500"/>
              <a:ext cx="1301750" cy="527050"/>
            </p14:xfrm>
          </p:contentPart>
        </mc:Choice>
        <mc:Fallback xmlns="">
          <p:pic>
            <p:nvPicPr>
              <p:cNvPr id="7" name="Рукописный ввод 6"/>
            </p:nvPicPr>
            <p:blipFill>
              <a:blip r:embed="rId10"/>
            </p:blipFill>
            <p:spPr>
              <a:xfrm>
                <a:off x="6267450" y="5524500"/>
                <a:ext cx="1301750" cy="527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8" name="Рукописный ввод 7"/>
              <p14:cNvContentPartPr/>
              <p14:nvPr/>
            </p14:nvContentPartPr>
            <p14:xfrm>
              <a:off x="2978150" y="3111500"/>
              <a:ext cx="9207500" cy="2673350"/>
            </p14:xfrm>
          </p:contentPart>
        </mc:Choice>
        <mc:Fallback xmlns="">
          <p:pic>
            <p:nvPicPr>
              <p:cNvPr id="8" name="Рукописный ввод 7"/>
            </p:nvPicPr>
            <p:blipFill>
              <a:blip r:embed="rId12"/>
            </p:blipFill>
            <p:spPr>
              <a:xfrm>
                <a:off x="2978150" y="3111500"/>
                <a:ext cx="9207500" cy="2673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9" name="Рукописный ввод 8"/>
              <p14:cNvContentPartPr/>
              <p14:nvPr/>
            </p14:nvContentPartPr>
            <p14:xfrm>
              <a:off x="2120900" y="755650"/>
              <a:ext cx="6457950" cy="6191250"/>
            </p14:xfrm>
          </p:contentPart>
        </mc:Choice>
        <mc:Fallback xmlns="">
          <p:pic>
            <p:nvPicPr>
              <p:cNvPr id="9" name="Рукописный ввод 8"/>
            </p:nvPicPr>
            <p:blipFill>
              <a:blip r:embed="rId14"/>
            </p:blipFill>
            <p:spPr>
              <a:xfrm>
                <a:off x="2120900" y="755650"/>
                <a:ext cx="6457950" cy="6191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0" name="Рукописный ввод 9"/>
              <p14:cNvContentPartPr/>
              <p14:nvPr/>
            </p14:nvContentPartPr>
            <p14:xfrm>
              <a:off x="6337300" y="4235450"/>
              <a:ext cx="5848350" cy="2565400"/>
            </p14:xfrm>
          </p:contentPart>
        </mc:Choice>
        <mc:Fallback xmlns="">
          <p:pic>
            <p:nvPicPr>
              <p:cNvPr id="10" name="Рукописный ввод 9"/>
            </p:nvPicPr>
            <p:blipFill>
              <a:blip r:embed="rId16"/>
            </p:blipFill>
            <p:spPr>
              <a:xfrm>
                <a:off x="6337300" y="4235450"/>
                <a:ext cx="5848350" cy="2565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1" name="Рукописный ввод 10"/>
              <p14:cNvContentPartPr/>
              <p14:nvPr/>
            </p14:nvContentPartPr>
            <p14:xfrm>
              <a:off x="8032750" y="4178300"/>
              <a:ext cx="952500" cy="1263650"/>
            </p14:xfrm>
          </p:contentPart>
        </mc:Choice>
        <mc:Fallback xmlns="">
          <p:pic>
            <p:nvPicPr>
              <p:cNvPr id="11" name="Рукописный ввод 10"/>
            </p:nvPicPr>
            <p:blipFill>
              <a:blip r:embed="rId18"/>
            </p:blipFill>
            <p:spPr>
              <a:xfrm>
                <a:off x="8032750" y="4178300"/>
                <a:ext cx="952500" cy="126365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-portrait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675120" y="0"/>
            <a:ext cx="55138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C1013"/>
          </a:solidFill>
        </p:spPr>
      </p:sp>
      <p:sp>
        <p:nvSpPr>
          <p:cNvPr id="4" name="Shape 1"/>
          <p:cNvSpPr/>
          <p:nvPr/>
        </p:nvSpPr>
        <p:spPr>
          <a:xfrm>
            <a:off x="6675120" y="0"/>
            <a:ext cx="457200" cy="6858000"/>
          </a:xfrm>
          <a:prstGeom prst="rect">
            <a:avLst/>
          </a:prstGeom>
          <a:solidFill>
            <a:srgbClr val="1C1013">
              <a:alpha val="45000"/>
            </a:srgbClr>
          </a:solidFill>
        </p:spPr>
      </p:sp>
      <p:sp>
        <p:nvSpPr>
          <p:cNvPr id="5" name="Text 2"/>
          <p:cNvSpPr txBox="1"/>
          <p:nvPr/>
        </p:nvSpPr>
        <p:spPr>
          <a:xfrm>
            <a:off x="731520" y="18745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ЛИТЕРАТУРНЫЙ ВЕЧЕР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286000"/>
            <a:ext cx="585216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Достоевский: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человек против закона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846320"/>
            <a:ext cx="5760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От раннего Достоевского до «Великого инквизитора»: разговор о морали, свободе и цене выбора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65105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5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Портрет Ф. М. Достоевского. В. Перов, 1872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-book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E1620">
              <a:alpha val="75000"/>
            </a:srgbClr>
          </a:solidFill>
        </p:spPr>
      </p:sp>
      <p:sp>
        <p:nvSpPr>
          <p:cNvPr id="4" name="Text 1"/>
          <p:cNvSpPr txBox="1"/>
          <p:nvPr/>
        </p:nvSpPr>
        <p:spPr>
          <a:xfrm>
            <a:off x="457200" y="237744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48056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685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ЧАСТЬ 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617720" y="100584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Вступление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4617720" y="1965960"/>
            <a:ext cx="67665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Коротко о том, что вообще будет ждать людей сегодня вечером — структура разговора, тон и то, зачем мы вообще снова говорим о Достоевском.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617720" y="3383280"/>
            <a:ext cx="109728" cy="109728"/>
          </a:xfrm>
          <a:prstGeom prst="ellipse">
            <a:avLst/>
          </a:prstGeom>
          <a:solidFill>
            <a:srgbClr val="C08B92"/>
          </a:solidFill>
        </p:spPr>
      </p:sp>
      <p:sp>
        <p:nvSpPr>
          <p:cNvPr id="10" name="Text 7"/>
          <p:cNvSpPr txBox="1"/>
          <p:nvPr/>
        </p:nvSpPr>
        <p:spPr>
          <a:xfrm>
            <a:off x="4892040" y="326440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Зачем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3653282"/>
            <a:ext cx="6492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ru-RU" altLang="en-US" sz="1250" dirty="0">
                <a:solidFill>
                  <a:schemeClr val="bg1">
                    <a:lumMod val="50000"/>
                  </a:schemeClr>
                </a:solidFill>
              </a:rPr>
              <a:t>почему именно достоевский и в чем выражается его крутость </a:t>
            </a:r>
            <a:r>
              <a:rPr lang="ru-RU" altLang="en-US" sz="1250" dirty="0">
                <a:solidFill>
                  <a:schemeClr val="bg1">
                    <a:lumMod val="85000"/>
                  </a:schemeClr>
                </a:solidFill>
              </a:rPr>
              <a:t>?</a:t>
            </a:r>
            <a:endParaRPr lang="ru-RU" altLang="en-US" sz="12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17720" y="4343400"/>
            <a:ext cx="109728" cy="109728"/>
          </a:xfrm>
          <a:prstGeom prst="ellipse">
            <a:avLst/>
          </a:prstGeom>
          <a:solidFill>
            <a:srgbClr val="C08B92"/>
          </a:solidFill>
        </p:spPr>
      </p:sp>
      <p:sp>
        <p:nvSpPr>
          <p:cNvPr id="13" name="Text 10"/>
          <p:cNvSpPr txBox="1"/>
          <p:nvPr/>
        </p:nvSpPr>
        <p:spPr>
          <a:xfrm>
            <a:off x="4892040" y="422452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Как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4583557"/>
            <a:ext cx="6492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8A2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Два героя — ранний и поздний писатель 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17720" y="5303520"/>
            <a:ext cx="109728" cy="109728"/>
          </a:xfrm>
          <a:prstGeom prst="ellipse">
            <a:avLst/>
          </a:prstGeom>
          <a:solidFill>
            <a:srgbClr val="C08B92"/>
          </a:solidFill>
        </p:spPr>
      </p:sp>
      <p:sp>
        <p:nvSpPr>
          <p:cNvPr id="16" name="Text 13"/>
          <p:cNvSpPr txBox="1"/>
          <p:nvPr/>
        </p:nvSpPr>
        <p:spPr>
          <a:xfrm>
            <a:off x="4892040" y="518464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 чём спорим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5513832"/>
            <a:ext cx="6492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8A2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Свобода, вина и право на моральный выбор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ЧАСТЬ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96112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Ранний и поздний Достоевский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Тезис вечера: ранний период часто недооценивают и незаслуженно забывают — а между ним и «поздним» Достоевским прямая линия развития.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2E1620"/>
          </a:solidFill>
        </p:spPr>
      </p:sp>
      <p:sp>
        <p:nvSpPr>
          <p:cNvPr id="6" name="Shape 4"/>
          <p:cNvSpPr/>
          <p:nvPr/>
        </p:nvSpPr>
        <p:spPr>
          <a:xfrm>
            <a:off x="6172200" y="242316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9B3D57"/>
          </a:solidFill>
        </p:spPr>
      </p:sp>
      <p:sp>
        <p:nvSpPr>
          <p:cNvPr id="7" name="Text 5"/>
          <p:cNvSpPr txBox="1"/>
          <p:nvPr/>
        </p:nvSpPr>
        <p:spPr>
          <a:xfrm>
            <a:off x="1051560" y="2743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РАННИЙ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1089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Незаслуженно забытый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794760"/>
            <a:ext cx="448056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Начало писательской карьеры — поиск голоса, эксперименты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«Честный вор» — маленький человек, совесть, тихая трагедия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Здесь уже есть зерно будущих тем: вина, достоинство, сострадание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743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ПОЗДНИЙ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1089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Признанный, обсуждаемый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794760"/>
            <a:ext cx="448056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«Преступление и наказание», «Записки из подполья», «Братья Карамазовы»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Большие философские вопросы: закон, свобода, вера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 нём говорят много — сегодня подробно останавливаться не будем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-raskolnikov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074152" y="0"/>
            <a:ext cx="41148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91272" y="0"/>
            <a:ext cx="274320" cy="6858000"/>
          </a:xfrm>
          <a:prstGeom prst="rect">
            <a:avLst/>
          </a:prstGeom>
          <a:solidFill>
            <a:srgbClr val="1C1013">
              <a:alpha val="70000"/>
            </a:srgbClr>
          </a:solidFill>
        </p:spPr>
      </p:sp>
      <p:sp>
        <p:nvSpPr>
          <p:cNvPr id="4" name="Text 1"/>
          <p:cNvSpPr txBox="1"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ПЕРЕХОД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932688"/>
            <a:ext cx="7040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От «Честного вора» к «Преступлению и наказанию»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83080"/>
            <a:ext cx="6949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Подробно о сюжете говорить не буду — его знают почти все. Сфокусируемся на двух вопросах.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606040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2E1620"/>
          </a:solidFill>
        </p:spPr>
      </p:sp>
      <p:sp>
        <p:nvSpPr>
          <p:cNvPr id="8" name="Text 5"/>
          <p:cNvSpPr txBox="1"/>
          <p:nvPr/>
        </p:nvSpPr>
        <p:spPr>
          <a:xfrm>
            <a:off x="960120" y="2715768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Ранняя проза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154680" y="2715768"/>
            <a:ext cx="4434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Маленький человек и его совесть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" y="3611880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2E1620"/>
          </a:solidFill>
        </p:spPr>
      </p:sp>
      <p:sp>
        <p:nvSpPr>
          <p:cNvPr id="11" name="Text 8"/>
          <p:cNvSpPr txBox="1"/>
          <p:nvPr/>
        </p:nvSpPr>
        <p:spPr>
          <a:xfrm>
            <a:off x="960120" y="3721608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«Честный вор»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154680" y="3721608"/>
            <a:ext cx="4434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Достоинство на самом дне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4617720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2E1620"/>
          </a:solidFill>
        </p:spPr>
      </p:sp>
      <p:sp>
        <p:nvSpPr>
          <p:cNvPr id="14" name="Text 11"/>
          <p:cNvSpPr txBox="1"/>
          <p:nvPr/>
        </p:nvSpPr>
        <p:spPr>
          <a:xfrm>
            <a:off x="960120" y="4727448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«Преступление и наказание»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4727448"/>
            <a:ext cx="4434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Совесть — против теории и закона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943600" cy="5943600"/>
          </a:xfrm>
          <a:prstGeom prst="ellipse">
            <a:avLst/>
          </a:prstGeom>
          <a:solidFill>
            <a:srgbClr val="9B3D57">
              <a:alpha val="35000"/>
            </a:srgbClr>
          </a:solidFill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ВОПРОС 1 · ПРЕСТУПЛЕНИЕ И НАКАЗАНИЕ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0584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9B3D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«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987552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Может ли человек сам определить, кому позволено переступить через моральный закон?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60120" y="4892040"/>
            <a:ext cx="822960" cy="0"/>
          </a:xfrm>
          <a:prstGeom prst="line">
            <a:avLst/>
          </a:prstGeom>
          <a:noFill/>
          <a:ln w="25400">
            <a:solidFill>
              <a:srgbClr val="C08B9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50749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Теория Раскольникова о «право имеющих» и «тварях дрожащих»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943600" cy="5943600"/>
          </a:xfrm>
          <a:prstGeom prst="ellipse">
            <a:avLst/>
          </a:prstGeom>
          <a:solidFill>
            <a:srgbClr val="9B3D57">
              <a:alpha val="35000"/>
            </a:srgbClr>
          </a:solidFill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ВОПРОС 2 · ПРЕСТУПЛЕНИЕ И НАКАЗАНИЕ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0584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9B3D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«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987552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Опроверг ли Раскольников собственную теорию, признавшись в преступлении?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60120" y="4892040"/>
            <a:ext cx="822960" cy="0"/>
          </a:xfrm>
          <a:prstGeom prst="line">
            <a:avLst/>
          </a:prstGeom>
          <a:noFill/>
          <a:ln w="25400">
            <a:solidFill>
              <a:srgbClr val="C08B9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50749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Особенно интересно услышать мнения — открытый вопрос для дискуссии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-podpoly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074152" y="0"/>
            <a:ext cx="41148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91272" y="0"/>
            <a:ext cx="274320" cy="6858000"/>
          </a:xfrm>
          <a:prstGeom prst="rect">
            <a:avLst/>
          </a:prstGeom>
          <a:solidFill>
            <a:srgbClr val="1C1013">
              <a:alpha val="70000"/>
            </a:srgbClr>
          </a:solidFill>
        </p:spPr>
      </p:sp>
      <p:sp>
        <p:nvSpPr>
          <p:cNvPr id="4" name="Text 1"/>
          <p:cNvSpPr txBox="1"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ЧАСТЬ 2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932688"/>
            <a:ext cx="7040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«Записки из подполья»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83080"/>
            <a:ext cx="6949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Пару минут — о самом произведении, дальше сразу к вопросам.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606040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2E1620"/>
          </a:solidFill>
        </p:spPr>
      </p:sp>
      <p:sp>
        <p:nvSpPr>
          <p:cNvPr id="8" name="Text 5"/>
          <p:cNvSpPr txBox="1"/>
          <p:nvPr/>
        </p:nvSpPr>
        <p:spPr>
          <a:xfrm>
            <a:off x="960120" y="2715768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Подпольный человек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154680" y="2715768"/>
            <a:ext cx="4434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Герой без имени — голос, полный злобы, ума и саморазрушения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" y="3611880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2E1620"/>
          </a:solidFill>
        </p:spPr>
      </p:sp>
      <p:sp>
        <p:nvSpPr>
          <p:cNvPr id="11" name="Text 8"/>
          <p:cNvSpPr txBox="1"/>
          <p:nvPr/>
        </p:nvSpPr>
        <p:spPr>
          <a:xfrm>
            <a:off x="960120" y="3721608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Против рацио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154680" y="3721608"/>
            <a:ext cx="4434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Бунт против идеи, что человек всегда действует в своих интересах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4617720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2E1620"/>
          </a:solidFill>
        </p:spPr>
      </p:sp>
      <p:sp>
        <p:nvSpPr>
          <p:cNvPr id="14" name="Text 11"/>
          <p:cNvSpPr txBox="1"/>
          <p:nvPr/>
        </p:nvSpPr>
        <p:spPr>
          <a:xfrm>
            <a:off x="960120" y="4727448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Свобода как своеволие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4727448"/>
            <a:ext cx="4434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Право хотеть даже то, что вредит — потому что это моё право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pic>
        <p:nvPicPr>
          <p:cNvPr id="17" name="Изображение 16"/>
          <p:cNvPicPr/>
          <p:nvPr/>
        </p:nvPicPr>
        <p:blipFill>
          <a:blip r:embed="rId2"/>
          <a:stretch>
            <a:fillRect/>
          </a:stretch>
        </p:blipFill>
        <p:spPr>
          <a:xfrm>
            <a:off x="8046720" y="0"/>
            <a:ext cx="418528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943600" cy="5943600"/>
          </a:xfrm>
          <a:prstGeom prst="ellipse">
            <a:avLst/>
          </a:prstGeom>
          <a:solidFill>
            <a:srgbClr val="9B3D57">
              <a:alpha val="35000"/>
            </a:srgbClr>
          </a:solidFill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ОСНОВНОЙ ВОПРОС · ЗАПИСКИ ИЗ ПОДПОЛЬЯ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0584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9B3D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«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987552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Может ли человек сознательно идти против рационально выгодных для него поступков — и против собственного интереса? Почему для Достоевского это возможно?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60120" y="4892040"/>
            <a:ext cx="822960" cy="0"/>
          </a:xfrm>
          <a:prstGeom prst="line">
            <a:avLst/>
          </a:prstGeom>
          <a:noFill/>
          <a:ln w="25400">
            <a:solidFill>
              <a:srgbClr val="C08B9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50749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Своеволие как последний оплот личности против «хрустального дворца» разума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-inkvizitor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074152" y="0"/>
            <a:ext cx="41148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91272" y="0"/>
            <a:ext cx="274320" cy="6858000"/>
          </a:xfrm>
          <a:prstGeom prst="rect">
            <a:avLst/>
          </a:prstGeom>
          <a:solidFill>
            <a:srgbClr val="1C1013">
              <a:alpha val="70000"/>
            </a:srgbClr>
          </a:solidFill>
        </p:spPr>
      </p:sp>
      <p:sp>
        <p:nvSpPr>
          <p:cNvPr id="4" name="Text 1"/>
          <p:cNvSpPr txBox="1"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ЧАСТЬ 3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932688"/>
            <a:ext cx="7040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«Великий инквизитор»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83080"/>
            <a:ext cx="6949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Короткое пояснение к притче — и снова серия вопросов. Тема — свобода, вера и счастье.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606040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2E1620"/>
          </a:solidFill>
        </p:spPr>
      </p:sp>
      <p:sp>
        <p:nvSpPr>
          <p:cNvPr id="8" name="Text 5"/>
          <p:cNvSpPr txBox="1"/>
          <p:nvPr/>
        </p:nvSpPr>
        <p:spPr>
          <a:xfrm>
            <a:off x="960120" y="2715768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Христос молчит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154680" y="2715768"/>
            <a:ext cx="4434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Возвращается на землю, инквизитор допрашивает его в тюрьме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" y="3611880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2E1620"/>
          </a:solidFill>
        </p:spPr>
      </p:sp>
      <p:sp>
        <p:nvSpPr>
          <p:cNvPr id="11" name="Text 8"/>
          <p:cNvSpPr txBox="1"/>
          <p:nvPr/>
        </p:nvSpPr>
        <p:spPr>
          <a:xfrm>
            <a:off x="960120" y="3721608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Три искушения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154680" y="3721608"/>
            <a:ext cx="4434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Хлеб, чудо и власть — то, что Христос отверг ради свободы людей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4617720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2E1620"/>
          </a:solidFill>
        </p:spPr>
      </p:sp>
      <p:sp>
        <p:nvSpPr>
          <p:cNvPr id="14" name="Text 11"/>
          <p:cNvSpPr txBox="1"/>
          <p:nvPr/>
        </p:nvSpPr>
        <p:spPr>
          <a:xfrm>
            <a:off x="960120" y="4727448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Инквизитор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4727448"/>
            <a:ext cx="4434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Уверен: свобода людям не по силам, счастье важнее свободы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943600" cy="5943600"/>
          </a:xfrm>
          <a:prstGeom prst="ellipse">
            <a:avLst/>
          </a:prstGeom>
          <a:solidFill>
            <a:srgbClr val="9B3D57">
              <a:alpha val="35000"/>
            </a:srgbClr>
          </a:solidFill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ВОПРОС · ВЕЛИКИЙ ИНКВИЗИТОР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0584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9B3D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«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987552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Действительно ли человеку нужна свобода, если свобода сама становится источником страдания и ответственности?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60120" y="4892040"/>
            <a:ext cx="822960" cy="0"/>
          </a:xfrm>
          <a:prstGeom prst="line">
            <a:avLst/>
          </a:prstGeom>
          <a:noFill/>
          <a:ln w="25400">
            <a:solidFill>
              <a:srgbClr val="C08B9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50749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Проблема свободы, веры и счастья — можно ли выбрать хлеб вместо тяжести выбора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-kirillov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42976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0" y="0"/>
            <a:ext cx="274320" cy="6858000"/>
          </a:xfrm>
          <a:prstGeom prst="rect">
            <a:avLst/>
          </a:prstGeom>
          <a:solidFill>
            <a:srgbClr val="1C1013">
              <a:alpha val="70000"/>
            </a:srgbClr>
          </a:solidFill>
        </p:spPr>
      </p:sp>
      <p:sp>
        <p:nvSpPr>
          <p:cNvPr id="4" name="Text 1"/>
          <p:cNvSpPr txBox="1"/>
          <p:nvPr/>
        </p:nvSpPr>
        <p:spPr>
          <a:xfrm>
            <a:off x="4617720" y="640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ЧАСТЬ 4 · БЕСЫ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0" y="100584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Кириллов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617720" y="18745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ПРЕДЕЛЬНЫЙ СЛУЧАЙ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2286000"/>
            <a:ext cx="6949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Что будет, если довести свободу воли до предела?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4572000" y="3566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1620"/>
          </a:solidFill>
        </p:spPr>
      </p:sp>
      <p:sp>
        <p:nvSpPr>
          <p:cNvPr id="9" name="Text 6"/>
          <p:cNvSpPr txBox="1"/>
          <p:nvPr/>
        </p:nvSpPr>
        <p:spPr>
          <a:xfrm>
            <a:off x="4572000" y="3566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3547872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Раскольников испытывал теорию — и не выдержал её тяжести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0" y="4343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1620"/>
          </a:solidFill>
        </p:spPr>
      </p:sp>
      <p:sp>
        <p:nvSpPr>
          <p:cNvPr id="12" name="Text 9"/>
          <p:cNvSpPr txBox="1"/>
          <p:nvPr/>
        </p:nvSpPr>
        <p:spPr>
          <a:xfrm>
            <a:off x="4572000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212080" y="4325112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Подпольный человек защищал своеволие словом, но не действием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0" y="5120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9B3D57"/>
          </a:solidFill>
        </p:spPr>
      </p:sp>
      <p:sp>
        <p:nvSpPr>
          <p:cNvPr id="15" name="Text 12"/>
          <p:cNvSpPr txBox="1"/>
          <p:nvPr/>
        </p:nvSpPr>
        <p:spPr>
          <a:xfrm>
            <a:off x="4572000" y="5120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5102352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Кириллов доводит идею до конца: своеволие как самообожествление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589788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i="1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Финальный вопрос вечера: где проходит граница между свободой и саморазрушением?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МАРШРУТ ВЕЧЕРА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Один вечер — четыре героя, один вопрос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0744200" cy="0"/>
          </a:xfrm>
          <a:prstGeom prst="line">
            <a:avLst/>
          </a:prstGeom>
          <a:noFill/>
          <a:ln w="25400">
            <a:solidFill>
              <a:srgbClr val="C08B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3099816"/>
            <a:ext cx="201168" cy="201168"/>
          </a:xfrm>
          <a:prstGeom prst="ellipse">
            <a:avLst/>
          </a:prstGeom>
          <a:solidFill>
            <a:srgbClr val="C08B92"/>
          </a:solidFill>
          <a:ln w="19050">
            <a:solidFill>
              <a:srgbClr val="E9D9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-320040" y="22402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МИН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-320040" y="254203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Вступление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-320040" y="34747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Что нас ждёт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6986" y="3099816"/>
            <a:ext cx="201168" cy="201168"/>
          </a:xfrm>
          <a:prstGeom prst="ellipse">
            <a:avLst/>
          </a:prstGeom>
          <a:solidFill>
            <a:srgbClr val="9B3D57"/>
          </a:solidFill>
          <a:ln w="19050">
            <a:solidFill>
              <a:srgbClr val="E9D9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66010" y="22402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П. И Н.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366010" y="254203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Раскольников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66010" y="34747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Право на закон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03036" y="3099816"/>
            <a:ext cx="201168" cy="201168"/>
          </a:xfrm>
          <a:prstGeom prst="ellipse">
            <a:avLst/>
          </a:prstGeom>
          <a:solidFill>
            <a:srgbClr val="9B3D57"/>
          </a:solidFill>
          <a:ln w="19050">
            <a:solidFill>
              <a:srgbClr val="E9D9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52060" y="22402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ЗАПИСКИ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052060" y="254203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Подпольный человек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52060" y="34747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Против рацио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9086" y="3099816"/>
            <a:ext cx="201168" cy="201168"/>
          </a:xfrm>
          <a:prstGeom prst="ellipse">
            <a:avLst/>
          </a:prstGeom>
          <a:solidFill>
            <a:srgbClr val="9B3D57"/>
          </a:solidFill>
          <a:ln w="19050">
            <a:solidFill>
              <a:srgbClr val="E9D9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38110" y="22402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ЛЕГЕНДА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38110" y="254203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Инквизитор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38110" y="34747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Свобода и счастье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375136" y="3099816"/>
            <a:ext cx="201168" cy="201168"/>
          </a:xfrm>
          <a:prstGeom prst="ellipse">
            <a:avLst/>
          </a:prstGeom>
          <a:solidFill>
            <a:srgbClr val="9B3D57"/>
          </a:solidFill>
          <a:ln w="19050">
            <a:solidFill>
              <a:srgbClr val="E9D9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424160" y="22402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08B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БЕСЫ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424160" y="254203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Кириллов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424160" y="34747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E9D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Своеволие до предела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486400"/>
            <a:ext cx="9418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9D9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Сквозная тема: свобода всегда стоит цену — вопрос в том, кто и как готов её платить.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3497</Words>
  <Application>WPS Presentation</Application>
  <PresentationFormat>On-screen Show (16:9)</PresentationFormat>
  <Paragraphs>215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Misha Khechoyan</cp:lastModifiedBy>
  <cp:revision>2</cp:revision>
  <dcterms:created xsi:type="dcterms:W3CDTF">2026-08-28T16:19:00Z</dcterms:created>
  <dcterms:modified xsi:type="dcterms:W3CDTF">2026-08-28T21:11:15Z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1049-12.1.0.28032</vt:lpwstr>
  </property>
  <property fmtid="{D5CDD505-2E9C-101B-9397-08002B2CF9AE}" pid="3" name="ICV">
    <vt:lpwstr>3C60F9723C524DA6A459C25D80C3403D_12</vt:lpwstr>
  </property>
</Properties>
</file>